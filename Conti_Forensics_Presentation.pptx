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640080"/>
            <a:ext cx="2240280" cy="310896"/>
          </a:xfrm>
          <a:prstGeom prst="round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7208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80F1C"/>
                </a:solidFill>
                <a:latin typeface="Aptos"/>
              </a:defRPr>
            </a:pPr>
            <a:r>
              <a:t>CYBER FORENSICS • 23CSE334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8138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 Display"/>
              </a:defRPr>
            </a:pPr>
            <a:r>
              <a:t>Forensic Reconstruction of a</a:t>
            </a:r>
            <a:br/>
            <a:r>
              <a:t>Conti Ransomware Incident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44952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9D2D3"/>
                </a:solidFill>
                <a:latin typeface="Aptos"/>
              </a:defRPr>
            </a:pPr>
            <a:r>
              <a:t>Memory + Storage Access Artifact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1188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5C7"/>
                </a:solidFill>
                <a:latin typeface="Aptos"/>
              </a:defRPr>
            </a:pPr>
            <a:r>
              <a:t>Comparative behavioral analysis of a selected Conti execution against a matched Idle control using the RanSMAP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1691640" cy="13258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1527048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110.92×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03911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WRITE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417320"/>
            <a:ext cx="1691640" cy="13258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1527048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109.13×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03911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WRITE VOLUME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926080"/>
            <a:ext cx="1691640" cy="13258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2" y="3035808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1"/>
                </a:solidFill>
                <a:latin typeface="Aptos Display"/>
              </a:defRPr>
            </a:pPr>
            <a:r>
              <a:t>125.33×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354787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926080"/>
            <a:ext cx="1691640" cy="13258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3035808"/>
            <a:ext cx="13624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5B5B"/>
                </a:solidFill>
                <a:latin typeface="Aptos Display"/>
              </a:defRPr>
            </a:pPr>
            <a:r>
              <a:t>7.98×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354787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HIGH ENTROPY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257800"/>
            <a:ext cx="45720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F7FB"/>
                </a:solidFill>
                <a:latin typeface="Aptos"/>
              </a:defRPr>
            </a:pPr>
            <a:r>
              <a:t>Prepared by Shreya</a:t>
            </a:r>
            <a:r>
              <a:rPr lang="en-US"/>
              <a:t> .</a:t>
            </a:r>
            <a:r>
              <a:t> B</a:t>
            </a:r>
            <a:br/>
            <a:r>
              <a:t>B.Tech Computer Science &amp;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553212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A6B5C7"/>
                </a:solidFill>
                <a:latin typeface="Aptos"/>
              </a:defRPr>
            </a:pPr>
            <a:r>
              <a:t>RanSMAP • Selected Conti execution • Matched Idle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01 • CASE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Investigation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2344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536192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4F7FB"/>
                </a:solidFill>
                <a:latin typeface="Aptos Display"/>
              </a:defRPr>
            </a:pPr>
            <a:r>
              <a:t>How different is the selected Conti execution from normal Idle behavior?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487168"/>
            <a:ext cx="5212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5C7"/>
                </a:solidFill>
                <a:latin typeface="Aptos"/>
              </a:defRPr>
            </a:pPr>
            <a:r>
              <a:t>The analysis does not rely on a single metric. It looks for convergence across storage volume, write frequency, throughput, entropy, memory activity, temporal correlation and repeated high-intensity windows.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34440"/>
            <a:ext cx="5349240" cy="45262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CONTROLLED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Ransomware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93852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Conti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249424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50545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50545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Idle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16352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07238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072384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RanSMAP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383280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63931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63931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Windows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950208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20624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Matching 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0624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Same hardware configuration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517136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77316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Run 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F7FB"/>
                </a:solidFill>
                <a:latin typeface="Aptos"/>
              </a:defRPr>
            </a:pPr>
            <a:r>
              <a:t>≈203 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084064"/>
            <a:ext cx="4480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" y="4800600"/>
            <a:ext cx="1965960" cy="310896"/>
          </a:xfrm>
          <a:prstGeom prst="round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83260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80F1C"/>
                </a:solidFill>
                <a:latin typeface="Aptos"/>
              </a:defRPr>
            </a:pPr>
            <a:r>
              <a:t>BEHAVIORAL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4800600"/>
            <a:ext cx="1965960" cy="310896"/>
          </a:xfrm>
          <a:prstGeom prst="round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4832604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80F1C"/>
                </a:solidFill>
                <a:latin typeface="Aptos"/>
              </a:defRPr>
            </a:pPr>
            <a:r>
              <a:t>NOT MECHANISM 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02 • DATA &amp;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Evidence Surface &amp; Analytical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14904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ata_read.csv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1856231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Storage 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32588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14904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ata_write.csv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856231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Storage writes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32588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14904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mem_read.csv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1856231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Memory reads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56032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272491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mem_write.csv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309067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Memory writes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256032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272491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mem_readwrite.csv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309067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Combined R/W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2560320"/>
            <a:ext cx="3246120" cy="96012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2712" y="272491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mem_exec.csv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309067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6B5C7"/>
                </a:solidFill>
                <a:latin typeface="Aptos"/>
              </a:defRPr>
            </a:pPr>
            <a:r>
              <a:t>Memory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04164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Validate artifacts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68879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Reconstruct timestamps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2312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Aggregate @ 1 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1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Compare Conti / Idle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2167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2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Correlate activity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4407408"/>
            <a:ext cx="1627632" cy="841248"/>
          </a:xfrm>
          <a:prstGeom prst="roundRect">
            <a:avLst/>
          </a:prstGeom>
          <a:solidFill>
            <a:srgbClr val="182940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4553712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05872" y="4489704"/>
            <a:ext cx="1051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Build evidence matrix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1"/>
                </a:solidFill>
                <a:latin typeface="Aptos"/>
              </a:defRPr>
            </a:pPr>
            <a:r>
              <a:t>Key decision rule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55961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High-intensity window = storage writes ≥ 75th percentile AND mean write entropy ≥ 0.90.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03 • TEMPORAL 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Incident Timeline — 203 Seconds of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331720"/>
            <a:ext cx="10469880" cy="50292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77874" y="2258568"/>
            <a:ext cx="137160" cy="137160"/>
          </a:xfrm>
          <a:prstGeom prst="ellipse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974" y="176479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9D2D3"/>
                </a:solidFill>
                <a:latin typeface="Aptos"/>
              </a:defRPr>
            </a:pPr>
            <a:r>
              <a:t>02:05:11.654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094" y="2514600"/>
            <a:ext cx="1188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Memory execution begins</a:t>
            </a:r>
            <a:br/>
            <a:r>
              <a:t>184 exec/s</a:t>
            </a:r>
          </a:p>
        </p:txBody>
      </p:sp>
      <p:sp>
        <p:nvSpPr>
          <p:cNvPr id="21" name="Oval 20"/>
          <p:cNvSpPr/>
          <p:nvPr/>
        </p:nvSpPr>
        <p:spPr>
          <a:xfrm>
            <a:off x="1696669" y="2258568"/>
            <a:ext cx="137160" cy="137160"/>
          </a:xfrm>
          <a:prstGeom prst="ellipse">
            <a:avLst/>
          </a:prstGeom>
          <a:solidFill>
            <a:srgbClr val="4F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769" y="176479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F89FF"/>
                </a:solidFill>
                <a:latin typeface="Aptos"/>
              </a:defRPr>
            </a:pPr>
            <a:r>
              <a:t>02:05:11.840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889" y="2514600"/>
            <a:ext cx="1188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ATA writes begin</a:t>
            </a:r>
          </a:p>
        </p:txBody>
      </p:sp>
      <p:sp>
        <p:nvSpPr>
          <p:cNvPr id="24" name="Oval 23"/>
          <p:cNvSpPr/>
          <p:nvPr/>
        </p:nvSpPr>
        <p:spPr>
          <a:xfrm>
            <a:off x="8292693" y="2258568"/>
            <a:ext cx="137160" cy="1371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9793" y="176479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B041"/>
                </a:solidFill>
                <a:latin typeface="Aptos"/>
              </a:defRPr>
            </a:pPr>
            <a:r>
              <a:t>02:07:39.326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6913" y="2514600"/>
            <a:ext cx="1188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Last memory-exec event</a:t>
            </a:r>
          </a:p>
        </p:txBody>
      </p:sp>
      <p:sp>
        <p:nvSpPr>
          <p:cNvPr id="27" name="Oval 26"/>
          <p:cNvSpPr/>
          <p:nvPr/>
        </p:nvSpPr>
        <p:spPr>
          <a:xfrm>
            <a:off x="10910163" y="2258568"/>
            <a:ext cx="137160" cy="137160"/>
          </a:xfrm>
          <a:prstGeom prst="ellipse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7263" y="176479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5B5B"/>
                </a:solidFill>
                <a:latin typeface="Aptos"/>
              </a:defRPr>
            </a:pPr>
            <a:r>
              <a:t>02:08:33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4383" y="2514600"/>
            <a:ext cx="1188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Peak ATA writes</a:t>
            </a:r>
            <a:br/>
            <a:r>
              <a:t>12,434/s</a:t>
            </a:r>
          </a:p>
        </p:txBody>
      </p:sp>
      <p:sp>
        <p:nvSpPr>
          <p:cNvPr id="30" name="Oval 29"/>
          <p:cNvSpPr/>
          <p:nvPr/>
        </p:nvSpPr>
        <p:spPr>
          <a:xfrm>
            <a:off x="11119561" y="2258568"/>
            <a:ext cx="137160" cy="137160"/>
          </a:xfrm>
          <a:prstGeom prst="ellipse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76661" y="176479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9D2D3"/>
                </a:solidFill>
                <a:latin typeface="Aptos"/>
              </a:defRPr>
            </a:pPr>
            <a:r>
              <a:t>02:08:34.894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3781" y="2514600"/>
            <a:ext cx="1188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ATA writes 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77639"/>
            <a:ext cx="214884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087368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203.05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599431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ATA WRITE DURATION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63240" y="3977639"/>
            <a:ext cx="214884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832" y="4087368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147.67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832" y="4599431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MEMORY EXEC DURATION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3977639"/>
            <a:ext cx="214884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9552" y="4087368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1"/>
                </a:solidFill>
                <a:latin typeface="Aptos Display"/>
              </a:defRPr>
            </a:pPr>
            <a:r>
              <a:t>554,371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599431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ATA WRITE EVENTS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3977639"/>
            <a:ext cx="214884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1" y="4087368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5B5B"/>
                </a:solidFill>
                <a:latin typeface="Aptos Display"/>
              </a:defRPr>
            </a:pPr>
            <a:r>
              <a:t>273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1" y="4599431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MEMORY EXEC EVENTS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86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5458968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Execution activity starts almost immediately before storage modification, while the strongest storage burst occurs late in the run.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04 • PRIMARY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Storage Modification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214884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1435607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554,371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1947672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CONTI ATA 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21762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6B5C7"/>
                </a:solidFill>
                <a:latin typeface="Aptos"/>
              </a:defRPr>
            </a:pPr>
            <a:r>
              <a:t>Idle: 4,998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724912"/>
            <a:ext cx="214884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834640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2,108.16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34670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RECORDED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575304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6B5C7"/>
                </a:solidFill>
                <a:latin typeface="Aptos"/>
              </a:defRPr>
            </a:pPr>
            <a:r>
              <a:t>Idle: 19.32 MB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23944"/>
            <a:ext cx="214884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233672"/>
            <a:ext cx="18196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5B5B"/>
                </a:solidFill>
                <a:latin typeface="Aptos Display"/>
              </a:defRPr>
            </a:pPr>
            <a:r>
              <a:t>12,434/s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745736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PEAK ATA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974336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6B5C7"/>
                </a:solidFill>
                <a:latin typeface="Aptos"/>
              </a:defRPr>
            </a:pPr>
            <a:r>
              <a:t>Idle: 978/s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595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5B041"/>
                </a:solidFill>
                <a:latin typeface="Aptos"/>
              </a:defRPr>
            </a:pPr>
            <a:r>
              <a:t>PRIMARY DISCRIMINATOR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24728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F7FB"/>
                </a:solidFill>
                <a:latin typeface="Aptos"/>
              </a:defRPr>
            </a:pPr>
            <a:r>
              <a:t>Scale + persistence of storage activity outweigh an isolated peak.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1325880"/>
            <a:ext cx="8458200" cy="5074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(5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302" y="1408176"/>
            <a:ext cx="7369195" cy="49103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08960" y="6144768"/>
            <a:ext cx="81838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Executed notebook: Conti storage-write activity + write entropy over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05 • STORAGE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Write Entropy — Strong Enrichment, Not Proof of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2344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ENTROPY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69164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Aptos"/>
              </a:defRPr>
            </a:pPr>
            <a:r>
              <a:t>Mean 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848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F89FF"/>
                </a:solidFill>
                <a:latin typeface="Aptos"/>
              </a:defRPr>
            </a:pPr>
            <a:r>
              <a:t>Conti  0.7479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08483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Idle  0.4420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075688"/>
            <a:ext cx="2743200" cy="164592"/>
          </a:xfrm>
          <a:prstGeom prst="roundRect">
            <a:avLst/>
          </a:prstGeom>
          <a:solidFill>
            <a:srgbClr val="4F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2404872"/>
            <a:ext cx="1621198" cy="164592"/>
          </a:xfrm>
          <a:prstGeom prst="roundRect">
            <a:avLst/>
          </a:prstGeom>
          <a:solidFill>
            <a:srgbClr val="A6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0756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F89FF"/>
                </a:solidFill>
                <a:latin typeface="Aptos"/>
              </a:defRPr>
            </a:pPr>
            <a:r>
              <a:t>1.69×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20040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Aptos"/>
              </a:defRPr>
            </a:pPr>
            <a:r>
              <a:t>Entropy ≥ 0.90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935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5B5B"/>
                </a:solidFill>
                <a:latin typeface="Aptos"/>
              </a:defRPr>
            </a:pPr>
            <a:r>
              <a:t>Conti  59.69%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93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6B5C7"/>
                </a:solidFill>
                <a:latin typeface="Aptos"/>
              </a:defRPr>
            </a:pPr>
            <a:r>
              <a:t>Idle  7.48%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3584448"/>
            <a:ext cx="2743200" cy="164592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0" y="3913632"/>
            <a:ext cx="343761" cy="164592"/>
          </a:xfrm>
          <a:prstGeom prst="roundRect">
            <a:avLst/>
          </a:prstGeom>
          <a:solidFill>
            <a:srgbClr val="A6B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58444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25B5B"/>
                </a:solidFill>
                <a:latin typeface="Aptos"/>
              </a:defRPr>
            </a:pPr>
            <a:r>
              <a:t>7.98×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754880"/>
            <a:ext cx="7132320" cy="10972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1"/>
                </a:solidFill>
                <a:latin typeface="Aptos"/>
              </a:defRPr>
            </a:pPr>
            <a:r>
              <a:t>Forensic 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882896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F7FB"/>
                </a:solidFill>
                <a:latin typeface="Aptos"/>
              </a:defRPr>
            </a:pPr>
            <a:r>
              <a:t>High entropy supports a behavioral hypothesis; it is not unique to encryption and must be interpreted with volume, frequency and temporal behavior.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1234440"/>
            <a:ext cx="3520440" cy="46177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(20261004-151954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1631700"/>
            <a:ext cx="3355848" cy="3823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38160" y="5596128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Notebook evidence snapshot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06 • MEMORY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Memory Activity — Elevated on Average, but Peak-Aware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325880"/>
            <a:ext cx="205740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1435607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3.67×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194767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AVERAGE MEMORY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724912"/>
            <a:ext cx="205740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834640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4.35×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346704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AVERAGE MEMORY WRITE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23944"/>
            <a:ext cx="205740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233672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1"/>
                </a:solidFill>
                <a:latin typeface="Aptos Display"/>
              </a:defRPr>
            </a:pPr>
            <a:r>
              <a:t>184/s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745736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INITIAL EXEC BURST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12801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CONTΙ MEMORY 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627632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446,720 memory-read events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518,188 memory-write events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105 read/write events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273 memory-execution events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Execution concentrated near 02:05:11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234440"/>
            <a:ext cx="5486400" cy="4480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(8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3058" y="1316736"/>
            <a:ext cx="5098924" cy="43159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26480" y="5458968"/>
            <a:ext cx="5212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Executed notebook: memory read/write + execution activity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4754880"/>
            <a:ext cx="2743200" cy="105156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49834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5B5B"/>
                </a:solidFill>
                <a:latin typeface="Aptos"/>
              </a:defRPr>
            </a:pPr>
            <a:r>
              <a:t>CAVEAT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723765"/>
            <a:ext cx="1417320" cy="7626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000" b="1">
                <a:solidFill>
                  <a:srgbClr val="F4F7FB"/>
                </a:solidFill>
                <a:latin typeface="Aptos"/>
              </a:defRPr>
            </a:pPr>
            <a:r>
              <a:t>Idle has higher absolute peak memory-read/write rates. Peak memory alone is therefore not discriminating.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07 • CROSS-ARTIFACT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Storage ↔ Memory: A Measurable Temporal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234440"/>
            <a:ext cx="5806440" cy="51206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(20261004-15215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48362"/>
            <a:ext cx="5641848" cy="44927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099047"/>
            <a:ext cx="5532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Executed notebook: storage–memory Pearson correlation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417320"/>
            <a:ext cx="201168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1" y="1527048"/>
            <a:ext cx="16824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0.632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203911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STORAGE WRITES ↔ TOTAL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17320"/>
            <a:ext cx="201168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527048"/>
            <a:ext cx="16824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0.615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03911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STORAGE BYTES ↔ TOTAL 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880360"/>
            <a:ext cx="201168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1" y="2990088"/>
            <a:ext cx="16824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1"/>
                </a:solidFill>
                <a:latin typeface="Aptos Display"/>
              </a:defRPr>
            </a:pPr>
            <a:r>
              <a:t>0.615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1" y="350215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STORAGE WRITES ↔ MEM READ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2880360"/>
            <a:ext cx="2011680" cy="123444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2990088"/>
            <a:ext cx="16824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5B5B"/>
                </a:solidFill>
                <a:latin typeface="Aptos Display"/>
              </a:defRPr>
            </a:pPr>
            <a:r>
              <a:t>0.642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350215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STORAGE WRITES ↔ MEM WRITE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480560"/>
            <a:ext cx="425196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47091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63600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F7FB"/>
                </a:solidFill>
                <a:latin typeface="Aptos"/>
              </a:defRPr>
            </a:pPr>
            <a:r>
              <a:t>Positive temporal association supports a combined behavioral picture — not causation.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08 • INVESTIGATION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High-Intensity Forensic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184910"/>
            <a:ext cx="385064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5B5B"/>
                </a:solidFill>
                <a:latin typeface="Aptos Display"/>
              </a:defRPr>
            </a:pPr>
            <a:r>
              <a:t>11 candidate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836420"/>
            <a:ext cx="3383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  <a:latin typeface="Aptos"/>
              </a:defRPr>
            </a:pPr>
            <a:r>
              <a:t>Storage-write activity ≥ 75th percentile</a:t>
            </a:r>
            <a:br/>
            <a:r>
              <a:t>AND mean storage-write entropy ≥ 0.90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88036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91236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02:07:50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92807" y="288036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2807" y="291236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02:07:57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1256" y="288036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291236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02:07:59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0672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92807" y="347472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92807" y="350672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91256" y="347472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350672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06908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10108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92807" y="406908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92807" y="410108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02:08:21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91256" y="406908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91256" y="410108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66344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69544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2807" y="4663440"/>
            <a:ext cx="1115568" cy="310896"/>
          </a:xfrm>
          <a:prstGeom prst="roundRect">
            <a:avLst/>
          </a:prstGeom>
          <a:solidFill>
            <a:srgbClr val="F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92807" y="4695444"/>
            <a:ext cx="1115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4F7FB"/>
                </a:solidFill>
                <a:latin typeface="Aptos"/>
              </a:defRPr>
            </a:pPr>
            <a:r>
              <a:t>02:08:33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1234440"/>
            <a:ext cx="6720840" cy="51663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(20261004-152543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991" y="1316736"/>
            <a:ext cx="3588057" cy="50017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37760" y="6144768"/>
            <a:ext cx="6446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Executed notebook: peak activity evidence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7150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B041"/>
                </a:solidFill>
                <a:latin typeface="Aptos"/>
              </a:defRPr>
            </a:pPr>
            <a:r>
              <a:t>These are candidate investigation windows, not confirmed malicious events.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09 • FORENSIC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Evidence Matrix — Convergence Across Independent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234440"/>
            <a:ext cx="4206240" cy="475488"/>
          </a:xfrm>
          <a:prstGeom prst="rect">
            <a:avLst/>
          </a:prstGeom>
          <a:solidFill>
            <a:srgbClr val="182940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1362456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Indicator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234440"/>
            <a:ext cx="2651760" cy="475488"/>
          </a:xfrm>
          <a:prstGeom prst="rect">
            <a:avLst/>
          </a:prstGeom>
          <a:solidFill>
            <a:srgbClr val="182940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1362456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Conti / Idle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234440"/>
            <a:ext cx="3566160" cy="475488"/>
          </a:xfrm>
          <a:prstGeom prst="rect">
            <a:avLst/>
          </a:prstGeom>
          <a:solidFill>
            <a:srgbClr val="182940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1362456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1709928"/>
            <a:ext cx="420624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1847088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Storage write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1709928"/>
            <a:ext cx="26517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8" y="1847088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110.92×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709928"/>
            <a:ext cx="35661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1847088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194560"/>
            <a:ext cx="420624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2331720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Storage write volume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194560"/>
            <a:ext cx="26517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2331720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109.13×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194560"/>
            <a:ext cx="35661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233172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2679192"/>
            <a:ext cx="420624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2816352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Storage throughput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2679192"/>
            <a:ext cx="26517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3208" y="2816352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125.33×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679192"/>
            <a:ext cx="35661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2816352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163824"/>
            <a:ext cx="420624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3300984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Mean storage entropy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3163824"/>
            <a:ext cx="26517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3208" y="3300984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1.69×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163824"/>
            <a:ext cx="35661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7" y="3300984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1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648456"/>
            <a:ext cx="420624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3785616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High-entropy writes ≥ 0.90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0" y="3648456"/>
            <a:ext cx="26517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93208" y="3785616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7.98×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3648456"/>
            <a:ext cx="35661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3785616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133088"/>
            <a:ext cx="420624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4270248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Average memory read / write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83480" y="4133088"/>
            <a:ext cx="26517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3208" y="4270248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3.67× / 4.35×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4133088"/>
            <a:ext cx="35661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2127" y="4270248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6B5C7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617720"/>
            <a:ext cx="420624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" y="4754880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Storage-memory correlation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4617720"/>
            <a:ext cx="26517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93208" y="4754880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0.632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617720"/>
            <a:ext cx="35661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82127" y="475488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6B5C7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102352"/>
            <a:ext cx="420624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" y="5239512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Peak ATA write activity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5102352"/>
            <a:ext cx="26517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93208" y="5239512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12.71×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5102352"/>
            <a:ext cx="3566160" cy="484632"/>
          </a:xfrm>
          <a:prstGeom prst="rect">
            <a:avLst/>
          </a:prstGeom>
          <a:solidFill>
            <a:srgbClr val="0D182A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82127" y="5239512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" y="5586984"/>
            <a:ext cx="420624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" y="5724144"/>
            <a:ext cx="39867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High-write/high-entropy windows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83480" y="5586984"/>
            <a:ext cx="26517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5724144"/>
            <a:ext cx="24323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F7FB"/>
                </a:solidFill>
                <a:latin typeface="Aptos"/>
              </a:defRPr>
            </a:pPr>
            <a:r>
              <a:t>11 sec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0" y="5586984"/>
            <a:ext cx="3566160" cy="484632"/>
          </a:xfrm>
          <a:prstGeom prst="rect">
            <a:avLst/>
          </a:prstGeom>
          <a:solidFill>
            <a:srgbClr val="132034"/>
          </a:solidFill>
          <a:ln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82127" y="5724144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1"/>
                </a:solidFill>
                <a:latin typeface="Aptos"/>
              </a:defRPr>
            </a:pPr>
            <a:r>
              <a:t>HIGH-VALUE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5897880"/>
            <a:ext cx="10744200" cy="41148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5998464"/>
            <a:ext cx="10241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4F7FB"/>
                </a:solidFill>
                <a:latin typeface="Aptos"/>
              </a:defRPr>
            </a:pPr>
            <a:r>
              <a:t>Forensic principle: no single metric is conclusive; the evidentiary weight comes from convergence.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10 • ANALYTICAL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Peak Activity Caveat — What the Control Prevents Us From Claiming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234440"/>
            <a:ext cx="5669280" cy="5212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(20261004-15270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15" y="1316736"/>
            <a:ext cx="3444569" cy="5047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19048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80F1C"/>
                </a:solidFill>
                <a:latin typeface="Aptos"/>
              </a:defRPr>
            </a:pPr>
            <a:r>
              <a:t>Executed notebook: peak-activity caveat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325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WHAT WE CAN SAY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664208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Conti has markedly higher storage-write activity.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Conti has higher average memory read/write rates.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Storage and memory activity show positive temporal association.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Repeated high-write/high-entropy windows exist.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5B5B"/>
                </a:solidFill>
                <a:latin typeface="Aptos"/>
              </a:defRPr>
            </a:pPr>
            <a:r>
              <a:t>WHAT WE CANNOT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15968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Peak memory intensity alone proves malicious behavior.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High entropy alone proves file encryption.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Correlation proves causation.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Aptos"/>
              </a:defRPr>
            </a:pPr>
            <a:r>
              <a:t>•  These artifacts alone identify a specific encryption mechanism.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Behavioral Evidence Case Study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502920"/>
            <a:ext cx="7315" cy="5806440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4320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80760"/>
            <a:ext cx="11338560" cy="7315"/>
          </a:xfrm>
          <a:prstGeom prst="rect">
            <a:avLst/>
          </a:prstGeom>
          <a:solidFill>
            <a:srgbClr val="23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9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9D2D3"/>
                </a:solidFill>
                <a:latin typeface="Aptos"/>
              </a:defRPr>
            </a:pPr>
            <a:r>
              <a:t>11 •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7FB"/>
                </a:solidFill>
                <a:latin typeface="Aptos Display"/>
              </a:defRPr>
            </a:pPr>
            <a:r>
              <a:t>Final Assessment &amp;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234440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B"/>
                </a:solidFill>
                <a:latin typeface="Aptos Display"/>
              </a:defRPr>
            </a:pPr>
            <a:r>
              <a:t>The Conti execution is behaviorally distinct from the matched Idle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993392"/>
            <a:ext cx="7863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5C7"/>
                </a:solidFill>
                <a:latin typeface="Aptos"/>
              </a:defRPr>
            </a:pPr>
            <a:r>
              <a:t>The strongest signal is the convergence of extreme storage modification with elevated average memory activity and repeated high-entropy write windows.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71800"/>
            <a:ext cx="205740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08152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D2D3"/>
                </a:solidFill>
                <a:latin typeface="Aptos Display"/>
              </a:defRPr>
            </a:pPr>
            <a:r>
              <a:t>110.92×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593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WRITE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2971800"/>
            <a:ext cx="205740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308152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F89FF"/>
                </a:solidFill>
                <a:latin typeface="Aptos Display"/>
              </a:defRPr>
            </a:pPr>
            <a:r>
              <a:t>109.13×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593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WRITE VOLUME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2971800"/>
            <a:ext cx="205740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308152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1"/>
                </a:solidFill>
                <a:latin typeface="Aptos Display"/>
              </a:defRPr>
            </a:pPr>
            <a:r>
              <a:t>125.33×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3593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971800"/>
            <a:ext cx="205740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308152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5B5B"/>
                </a:solidFill>
                <a:latin typeface="Aptos Display"/>
              </a:defRPr>
            </a:pPr>
            <a:r>
              <a:t>7.98×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3593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HIGH ENTROPY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2971800"/>
            <a:ext cx="2057400" cy="114300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3081528"/>
            <a:ext cx="17282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6CD94"/>
                </a:solidFill>
                <a:latin typeface="Aptos Display"/>
              </a:defRPr>
            </a:pPr>
            <a:r>
              <a:t>11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593592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6B5C7"/>
                </a:solidFill>
                <a:latin typeface="Aptos"/>
              </a:defRPr>
            </a:pPr>
            <a:r>
              <a:t>TARGET WINDOWS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72000"/>
            <a:ext cx="10927080" cy="1051560"/>
          </a:xfrm>
          <a:prstGeom prst="roundRect">
            <a:avLst/>
          </a:prstGeom>
          <a:solidFill>
            <a:srgbClr val="132034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1888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9D2D3"/>
                </a:solidFill>
                <a:latin typeface="Aptos"/>
              </a:defRPr>
            </a:pPr>
            <a:r>
              <a:t>FINAL FORENSIC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736592"/>
            <a:ext cx="8412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F7FB"/>
                </a:solidFill>
                <a:latin typeface="Aptos"/>
              </a:defRPr>
            </a:pPr>
            <a:r>
              <a:t>Strong behavioral forensic evidence of a high-intensity storage-modification phase accompanied by elevated memory activity — not, by itself, proof of a specific ransomware mechanism.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6B5C7"/>
                </a:solidFill>
                <a:latin typeface="Aptos"/>
              </a:defRPr>
            </a:pPr>
            <a:r>
              <a:t>Conti Forensics • RanSMAP • Conti vs Idle •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6090</Words>
  <Application>WPS Presentation</Application>
  <PresentationFormat>On-screen Show (4:3)</PresentationFormat>
  <Paragraphs>480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Calibri</vt:lpstr>
      <vt:lpstr>Segoe UI Variable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shreya balasubramani</cp:lastModifiedBy>
  <cp:revision>5</cp:revision>
  <dcterms:created xsi:type="dcterms:W3CDTF">2013-01-27T09:14:00Z</dcterms:created>
  <dcterms:modified xsi:type="dcterms:W3CDTF">2026-10-04T16:41:54Z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1D7A7E4A46754265BBFD00264C6DD3E0_12</vt:lpwstr>
  </property>
  <property fmtid="{D5CDD505-2E9C-101B-9397-08002B2CF9AE}" pid="3" name="KSOProductBuildVer">
    <vt:lpwstr>1033-12.1.0.28485</vt:lpwstr>
  </property>
</Properties>
</file>